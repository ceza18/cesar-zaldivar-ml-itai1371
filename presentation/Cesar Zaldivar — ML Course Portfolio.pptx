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331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5640" y="1071265"/>
            <a:ext cx="5572720" cy="3000970"/>
          </a:xfrm>
          <a:prstGeom prst="ellipse">
            <a:avLst/>
          </a:prstGeom>
          <a:gradFill rotWithShape="1">
            <a:gsLst>
              <a:gs pos="0">
                <a:srgbClr val="38BDF8">
                  <a:alpha val="10000"/>
                </a:srgbClr>
              </a:gs>
              <a:gs pos="45000">
                <a:srgbClr val="38BDF8">
                  <a:alpha val="4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38BDF8"/>
              </a:gs>
              <a:gs pos="75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8BDF8"/>
              </a:gs>
              <a:gs pos="8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8BDF8"/>
              </a:gs>
              <a:gs pos="8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" y="128141"/>
            <a:ext cx="171450" cy="17145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1100" y="128141"/>
            <a:ext cx="171450" cy="17145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1100" y="4343400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879824" y="1319213"/>
            <a:ext cx="3451887" cy="234851"/>
          </a:xfrm>
          <a:prstGeom prst="roundRect">
            <a:avLst>
              <a:gd name="adj" fmla="val 61107"/>
            </a:avLst>
          </a:prstGeom>
          <a:solidFill>
            <a:srgbClr val="38BDF8">
              <a:alpha val="18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254923" tIns="43180" rIns="128270" bIns="43180" rtlCol="0" anchor="ctr"/>
          <a:lstStyle/>
          <a:p>
            <a:pPr marL="0" indent="0" algn="l">
              <a:buNone/>
            </a:pPr>
            <a:r>
              <a:rPr lang="en-US" sz="680" b="1" kern="0" spc="122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1371  ·  HOUSTON COMMUNITY COLLEGE  ·  2026</a:t>
            </a:r>
            <a:endParaRPr lang="en-US" sz="68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5948" y="1370269"/>
            <a:ext cx="132588" cy="132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372957" y="1754684"/>
            <a:ext cx="4398085" cy="115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34"/>
              </a:lnSpc>
              <a:spcAft>
                <a:spcPts val="560"/>
              </a:spcAft>
              <a:buNone/>
            </a:pPr>
            <a:r>
              <a:rPr lang="en-US" sz="4050" b="1" kern="0" spc="-3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 Learning</a:t>
            </a:r>
            <a:br/>
            <a:r>
              <a:rPr lang="en-US" sz="4050" kern="0" spc="-30" dirty="0">
                <a:solidFill>
                  <a:srgbClr val="E8F1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Portfolio</a:t>
            </a:r>
            <a:endParaRPr lang="en-US" sz="4050" dirty="0"/>
          </a:p>
        </p:txBody>
      </p:sp>
      <p:sp>
        <p:nvSpPr>
          <p:cNvPr id="13" name="Text 6"/>
          <p:cNvSpPr/>
          <p:nvPr/>
        </p:nvSpPr>
        <p:spPr>
          <a:xfrm>
            <a:off x="4143375" y="3083570"/>
            <a:ext cx="8572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3911590" y="3276600"/>
            <a:ext cx="132082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spcAft>
                <a:spcPts val="1130"/>
              </a:spcAft>
              <a:buNone/>
            </a:pPr>
            <a:r>
              <a:rPr lang="en-US" sz="1130" kern="0" spc="4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</a:t>
            </a:r>
            <a:endParaRPr lang="en-US" sz="113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8196" y="3317909"/>
            <a:ext cx="132588" cy="132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91970" y="3635276"/>
            <a:ext cx="4760059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8"/>
              </a:lnSpc>
              <a:buNone/>
            </a:pPr>
            <a:r>
              <a:rPr lang="en-US" sz="960" i="1" dirty="0">
                <a:solidFill>
                  <a:srgbClr val="E8F1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semester-long journey from data exploration to production-ready ML pipelines.</a:t>
            </a:r>
            <a:endParaRPr lang="en-US" sz="960" dirty="0"/>
          </a:p>
        </p:txBody>
      </p:sp>
      <p:sp>
        <p:nvSpPr>
          <p:cNvPr id="17" name="Text 9"/>
          <p:cNvSpPr/>
          <p:nvPr/>
        </p:nvSpPr>
        <p:spPr>
          <a:xfrm>
            <a:off x="43160" y="4629150"/>
            <a:ext cx="9100840" cy="514350"/>
          </a:xfrm>
          <a:prstGeom prst="rect">
            <a:avLst/>
          </a:prstGeom>
          <a:solidFill>
            <a:srgbClr val="1A2F47">
              <a:alpha val="6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43160" y="4629150"/>
            <a:ext cx="9100840" cy="9525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543702" y="4572149"/>
            <a:ext cx="704222" cy="55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7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
</a:t>
            </a: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533674" y="4762202"/>
            <a:ext cx="7590" cy="25777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1792823" y="4549274"/>
            <a:ext cx="1356678" cy="55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7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
</a:t>
            </a:r>
            <a:r>
              <a:rPr lang="en-US" sz="79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1371 — Intro to AI &amp; ML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442841" y="4762202"/>
            <a:ext cx="7590" cy="25777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3708690" y="4549274"/>
            <a:ext cx="1402068" cy="55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7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
</a:t>
            </a:r>
            <a:r>
              <a:rPr lang="en-US" sz="79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396508" y="4762202"/>
            <a:ext cx="7590" cy="25777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724039" y="4549274"/>
            <a:ext cx="241825" cy="55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7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
</a:t>
            </a:r>
            <a:r>
              <a:rPr lang="en-US" sz="79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7300358" y="4605189"/>
            <a:ext cx="946199" cy="491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
</a:t>
            </a:r>
            <a:r>
              <a:rPr lang="en-US" sz="730" b="1" kern="0" spc="37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Labs Completed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330059" y="4741218"/>
            <a:ext cx="299591" cy="299591"/>
          </a:xfrm>
          <a:prstGeom prst="ellipse">
            <a:avLst/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13560" y="4824719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4">
            <a:extLst>
              <a:ext uri="{FF2B5EF4-FFF2-40B4-BE49-F238E27FC236}">
                <a16:creationId xmlns:a16="http://schemas.microsoft.com/office/drawing/2014/main" id="{DF131588-8A63-927F-42B9-F99BA947B8CD}"/>
              </a:ext>
            </a:extLst>
          </p:cNvPr>
          <p:cNvSpPr/>
          <p:nvPr/>
        </p:nvSpPr>
        <p:spPr>
          <a:xfrm>
            <a:off x="4733962" y="4043198"/>
            <a:ext cx="3429000" cy="847725"/>
          </a:xfrm>
          <a:prstGeom prst="roundRect">
            <a:avLst>
              <a:gd name="adj" fmla="val 8390"/>
            </a:avLst>
          </a:prstGeom>
          <a:solidFill>
            <a:srgbClr val="1A2F47"/>
          </a:solidFill>
          <a:ln w="9525">
            <a:solidFill>
              <a:srgbClr val="38BDF8">
                <a:alpha val="18000"/>
              </a:srgbClr>
            </a:solidFill>
          </a:ln>
          <a:effectLst>
            <a:outerShdw blurRad="128270" dist="29210" dir="5400000" algn="bl" rotWithShape="0">
              <a:srgbClr val="000000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429220" y="2286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5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PORTFOLIO · ITAI 1371</a:t>
            </a:r>
            <a:endParaRPr lang="en-US" sz="620" dirty="0"/>
          </a:p>
        </p:txBody>
      </p:sp>
      <p:sp>
        <p:nvSpPr>
          <p:cNvPr id="5" name="Text 1"/>
          <p:cNvSpPr/>
          <p:nvPr/>
        </p:nvSpPr>
        <p:spPr>
          <a:xfrm>
            <a:off x="429220" y="389781"/>
            <a:ext cx="8865549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19" dirty="0">
                <a:solidFill>
                  <a:srgbClr val="E8F1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Journey — </a:t>
            </a:r>
            <a:r>
              <a:rPr lang="en-US" sz="1910" b="1" kern="0" spc="19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Labs Completed</a:t>
            </a:r>
            <a:endParaRPr lang="en-US" sz="1910" dirty="0"/>
          </a:p>
        </p:txBody>
      </p:sp>
      <p:sp>
        <p:nvSpPr>
          <p:cNvPr id="6" name="Text 2"/>
          <p:cNvSpPr/>
          <p:nvPr/>
        </p:nvSpPr>
        <p:spPr>
          <a:xfrm>
            <a:off x="429220" y="739676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65079" y="761256"/>
            <a:ext cx="13841" cy="438224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38BDF8">
                  <a:alpha val="35000"/>
                </a:srgbClr>
              </a:gs>
              <a:gs pos="92000">
                <a:srgbClr val="38BDF8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971550" y="889397"/>
            <a:ext cx="3429000" cy="847725"/>
          </a:xfrm>
          <a:prstGeom prst="roundRect">
            <a:avLst>
              <a:gd name="adj" fmla="val 8390"/>
            </a:avLst>
          </a:prstGeom>
          <a:solidFill>
            <a:srgbClr val="1A2F47"/>
          </a:solidFill>
          <a:ln w="9525">
            <a:solidFill>
              <a:srgbClr val="38BDF8">
                <a:alpha val="18000"/>
              </a:srgbClr>
            </a:solidFill>
          </a:ln>
          <a:effectLst>
            <a:outerShdw blurRad="128270" dist="29210" dir="5400000" algn="bl" rotWithShape="0">
              <a:srgbClr val="000000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095375" y="977652"/>
            <a:ext cx="349948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9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530" dirty="0"/>
          </a:p>
        </p:txBody>
      </p:sp>
      <p:sp>
        <p:nvSpPr>
          <p:cNvPr id="10" name="Text 6"/>
          <p:cNvSpPr/>
          <p:nvPr/>
        </p:nvSpPr>
        <p:spPr>
          <a:xfrm>
            <a:off x="1095375" y="1092398"/>
            <a:ext cx="624676" cy="135136"/>
          </a:xfrm>
          <a:prstGeom prst="roundRect">
            <a:avLst>
              <a:gd name="adj" fmla="val 106197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64770" tIns="7620" rIns="6477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02 – 03</a:t>
            </a:r>
            <a:endParaRPr lang="en-US" sz="530" dirty="0"/>
          </a:p>
        </p:txBody>
      </p:sp>
      <p:sp>
        <p:nvSpPr>
          <p:cNvPr id="11" name="Text 7"/>
          <p:cNvSpPr/>
          <p:nvPr/>
        </p:nvSpPr>
        <p:spPr>
          <a:xfrm>
            <a:off x="1095375" y="1262955"/>
            <a:ext cx="349948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Exploratory Data Analysis</a:t>
            </a:r>
            <a:endParaRPr lang="en-US" sz="820" dirty="0"/>
          </a:p>
        </p:txBody>
      </p:sp>
      <p:sp>
        <p:nvSpPr>
          <p:cNvPr id="12" name="Text 8"/>
          <p:cNvSpPr/>
          <p:nvPr/>
        </p:nvSpPr>
        <p:spPr>
          <a:xfrm>
            <a:off x="1095375" y="1409551"/>
            <a:ext cx="3244977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Iris and Titanic datasets; built first visualizations and practiced data wrangling fundamentals.</a:t>
            </a:r>
            <a:endParaRPr lang="en-US" sz="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1377" y="969913"/>
            <a:ext cx="193328" cy="193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07855" y="1249114"/>
            <a:ext cx="128141" cy="128141"/>
          </a:xfrm>
          <a:prstGeom prst="ellipse">
            <a:avLst/>
          </a:prstGeom>
          <a:solidFill>
            <a:srgbClr val="1A2F47"/>
          </a:solidFill>
          <a:ln w="9525">
            <a:solidFill>
              <a:srgbClr val="38BDF8"/>
            </a:solidFill>
          </a:ln>
          <a:effectLst>
            <a:outerShdw blurRad="71120" dist="50800" dir="16200000" algn="bl" rotWithShape="0">
              <a:srgbClr val="38BDF8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547146" y="1288405"/>
            <a:ext cx="49411" cy="4941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507855" y="2167830"/>
            <a:ext cx="128141" cy="128141"/>
          </a:xfrm>
          <a:prstGeom prst="ellipse">
            <a:avLst/>
          </a:prstGeom>
          <a:solidFill>
            <a:srgbClr val="1A2F47"/>
          </a:solidFill>
          <a:ln w="9525">
            <a:solidFill>
              <a:srgbClr val="38BDF8"/>
            </a:solidFill>
          </a:ln>
          <a:effectLst>
            <a:outerShdw blurRad="71120" dist="50800" dir="16200000" algn="bl" rotWithShape="0">
              <a:srgbClr val="38BDF8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547146" y="2207121"/>
            <a:ext cx="49411" cy="49411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743450" y="1808113"/>
            <a:ext cx="3429000" cy="847725"/>
          </a:xfrm>
          <a:prstGeom prst="roundRect">
            <a:avLst>
              <a:gd name="adj" fmla="val 8390"/>
            </a:avLst>
          </a:prstGeom>
          <a:solidFill>
            <a:srgbClr val="1E3A56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128270" dist="29210" dir="5400000" algn="bl" rotWithShape="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867275" y="1896368"/>
            <a:ext cx="349948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9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530" dirty="0"/>
          </a:p>
        </p:txBody>
      </p:sp>
      <p:sp>
        <p:nvSpPr>
          <p:cNvPr id="20" name="Text 15"/>
          <p:cNvSpPr/>
          <p:nvPr/>
        </p:nvSpPr>
        <p:spPr>
          <a:xfrm>
            <a:off x="4867275" y="2011114"/>
            <a:ext cx="624676" cy="135136"/>
          </a:xfrm>
          <a:prstGeom prst="roundRect">
            <a:avLst>
              <a:gd name="adj" fmla="val 106197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64770" tIns="7620" rIns="6477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04 – 05</a:t>
            </a:r>
            <a:endParaRPr lang="en-US" sz="530" dirty="0"/>
          </a:p>
        </p:txBody>
      </p:sp>
      <p:sp>
        <p:nvSpPr>
          <p:cNvPr id="21" name="Text 16"/>
          <p:cNvSpPr/>
          <p:nvPr/>
        </p:nvSpPr>
        <p:spPr>
          <a:xfrm>
            <a:off x="4867275" y="2181671"/>
            <a:ext cx="349948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820" dirty="0"/>
          </a:p>
        </p:txBody>
      </p:sp>
      <p:sp>
        <p:nvSpPr>
          <p:cNvPr id="22" name="Text 17"/>
          <p:cNvSpPr/>
          <p:nvPr/>
        </p:nvSpPr>
        <p:spPr>
          <a:xfrm>
            <a:off x="4867275" y="2328267"/>
            <a:ext cx="3244977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pipelines, model evaluation frameworks, and the precision vs. recall tradeoff on real datasets.</a:t>
            </a:r>
            <a:endParaRPr lang="en-US" sz="6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9295" y="1888629"/>
            <a:ext cx="193328" cy="193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5375" y="2815084"/>
            <a:ext cx="349948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9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53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C99C7B9-6A22-B425-1C48-09EB1D09ABE5}"/>
              </a:ext>
            </a:extLst>
          </p:cNvPr>
          <p:cNvGrpSpPr/>
          <p:nvPr/>
        </p:nvGrpSpPr>
        <p:grpSpPr>
          <a:xfrm>
            <a:off x="973247" y="2425006"/>
            <a:ext cx="3623310" cy="847725"/>
            <a:chOff x="971550" y="2712550"/>
            <a:chExt cx="3623310" cy="847725"/>
          </a:xfrm>
        </p:grpSpPr>
        <p:sp>
          <p:nvSpPr>
            <p:cNvPr id="24" name="Text 18"/>
            <p:cNvSpPr/>
            <p:nvPr/>
          </p:nvSpPr>
          <p:spPr>
            <a:xfrm>
              <a:off x="971550" y="2712550"/>
              <a:ext cx="3429000" cy="847725"/>
            </a:xfrm>
            <a:prstGeom prst="roundRect">
              <a:avLst>
                <a:gd name="adj" fmla="val 8390"/>
              </a:avLst>
            </a:prstGeom>
            <a:solidFill>
              <a:srgbClr val="1A2F47"/>
            </a:solidFill>
            <a:ln w="9525">
              <a:solidFill>
                <a:srgbClr val="38BDF8">
                  <a:alpha val="18000"/>
                </a:srgbClr>
              </a:solidFill>
            </a:ln>
            <a:effectLst>
              <a:outerShdw blurRad="128270" dist="29210" dir="5400000" algn="bl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6" name="Text 20"/>
            <p:cNvSpPr/>
            <p:nvPr/>
          </p:nvSpPr>
          <p:spPr>
            <a:xfrm>
              <a:off x="1095375" y="2929830"/>
              <a:ext cx="624676" cy="135136"/>
            </a:xfrm>
            <a:prstGeom prst="roundRect">
              <a:avLst>
                <a:gd name="adj" fmla="val 106197"/>
              </a:avLst>
            </a:prstGeom>
            <a:solidFill>
              <a:srgbClr val="38BDF8">
                <a:alpha val="15000"/>
              </a:srgbClr>
            </a:solidFill>
            <a:ln w="9525">
              <a:solidFill>
                <a:srgbClr val="38BDF8">
                  <a:alpha val="35000"/>
                </a:srgbClr>
              </a:solidFill>
            </a:ln>
          </p:spPr>
          <p:txBody>
            <a:bodyPr wrap="none" lIns="64770" tIns="7620" rIns="64770" bIns="7620" rtlCol="0" anchor="t"/>
            <a:lstStyle/>
            <a:p>
              <a:pPr marL="0" indent="0" algn="l">
                <a:buNone/>
              </a:pPr>
              <a:r>
                <a:rPr lang="en-US" sz="530" b="1" kern="0" spc="42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Labs 06 – 07</a:t>
              </a:r>
              <a:endParaRPr lang="en-US" sz="530" dirty="0"/>
            </a:p>
          </p:txBody>
        </p:sp>
        <p:sp>
          <p:nvSpPr>
            <p:cNvPr id="27" name="Text 21"/>
            <p:cNvSpPr/>
            <p:nvPr/>
          </p:nvSpPr>
          <p:spPr>
            <a:xfrm>
              <a:off x="1095375" y="3100388"/>
              <a:ext cx="3499485" cy="1250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984"/>
                </a:lnSpc>
                <a:buNone/>
              </a:pPr>
              <a:r>
                <a:rPr lang="en-US" sz="820" b="1" dirty="0">
                  <a:solidFill>
                    <a:srgbClr val="E8F1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Regression &amp; Metrics</a:t>
              </a:r>
              <a:endParaRPr lang="en-US" sz="820" dirty="0"/>
            </a:p>
          </p:txBody>
        </p:sp>
        <p:sp>
          <p:nvSpPr>
            <p:cNvPr id="28" name="Text 22"/>
            <p:cNvSpPr/>
            <p:nvPr/>
          </p:nvSpPr>
          <p:spPr>
            <a:xfrm>
              <a:off x="1095375" y="3246983"/>
              <a:ext cx="3244977" cy="251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43"/>
                </a:lnSpc>
                <a:buNone/>
              </a:pPr>
              <a:r>
                <a:rPr lang="en-US" sz="65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Regression models, cross-validation strategies, and diagnosing the bias-variance tradeoff in practice.</a:t>
              </a:r>
              <a:endParaRPr lang="en-US" sz="650" dirty="0"/>
            </a:p>
          </p:txBody>
        </p:sp>
        <p:pic>
          <p:nvPicPr>
            <p:cNvPr id="29" name="Image 4" descr="preencoded.png"/>
            <p:cNvPicPr>
              <a:picLocks noChangeAspect="1"/>
            </p:cNvPicPr>
            <p:nvPr/>
          </p:nvPicPr>
          <p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1377" y="2807345"/>
              <a:ext cx="193328" cy="193328"/>
            </a:xfrm>
            <a:prstGeom prst="rect">
              <a:avLst/>
            </a:prstGeom>
          </p:spPr>
        </p:pic>
      </p:grpSp>
      <p:sp>
        <p:nvSpPr>
          <p:cNvPr id="35" name="Text 28"/>
          <p:cNvSpPr/>
          <p:nvPr/>
        </p:nvSpPr>
        <p:spPr>
          <a:xfrm>
            <a:off x="4867275" y="3733800"/>
            <a:ext cx="349948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9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53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B879137-57AE-8AD6-F8D6-655FD4D7DE1A}"/>
              </a:ext>
            </a:extLst>
          </p:cNvPr>
          <p:cNvGrpSpPr/>
          <p:nvPr/>
        </p:nvGrpSpPr>
        <p:grpSpPr>
          <a:xfrm>
            <a:off x="4743450" y="2974016"/>
            <a:ext cx="3623310" cy="847725"/>
            <a:chOff x="4743450" y="3645545"/>
            <a:chExt cx="3623310" cy="847725"/>
          </a:xfrm>
        </p:grpSpPr>
        <p:sp>
          <p:nvSpPr>
            <p:cNvPr id="34" name="Text 27"/>
            <p:cNvSpPr/>
            <p:nvPr/>
          </p:nvSpPr>
          <p:spPr>
            <a:xfrm>
              <a:off x="4743450" y="3645545"/>
              <a:ext cx="3429000" cy="847725"/>
            </a:xfrm>
            <a:prstGeom prst="roundRect">
              <a:avLst>
                <a:gd name="adj" fmla="val 8390"/>
              </a:avLst>
            </a:prstGeom>
            <a:solidFill>
              <a:srgbClr val="1E3A56"/>
            </a:solidFill>
            <a:ln w="9525">
              <a:solidFill>
                <a:srgbClr val="38BDF8">
                  <a:alpha val="10000"/>
                </a:srgbClr>
              </a:solidFill>
            </a:ln>
            <a:effectLst>
              <a:outerShdw blurRad="128270" dist="29210" dir="5400000" algn="bl" rotWithShape="0">
                <a:srgbClr val="000000">
                  <a:alpha val="18000"/>
                </a:srgbClr>
              </a:outerShdw>
            </a:effectLst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6" name="Text 29"/>
            <p:cNvSpPr/>
            <p:nvPr/>
          </p:nvSpPr>
          <p:spPr>
            <a:xfrm>
              <a:off x="4867275" y="3848546"/>
              <a:ext cx="624676" cy="135136"/>
            </a:xfrm>
            <a:prstGeom prst="roundRect">
              <a:avLst>
                <a:gd name="adj" fmla="val 106197"/>
              </a:avLst>
            </a:prstGeom>
            <a:solidFill>
              <a:srgbClr val="38BDF8">
                <a:alpha val="15000"/>
              </a:srgbClr>
            </a:solidFill>
            <a:ln w="9525">
              <a:solidFill>
                <a:srgbClr val="38BDF8">
                  <a:alpha val="35000"/>
                </a:srgbClr>
              </a:solidFill>
            </a:ln>
          </p:spPr>
          <p:txBody>
            <a:bodyPr wrap="none" lIns="64770" tIns="7620" rIns="64770" bIns="7620" rtlCol="0" anchor="t"/>
            <a:lstStyle/>
            <a:p>
              <a:pPr marL="0" indent="0" algn="l">
                <a:buNone/>
              </a:pPr>
              <a:r>
                <a:rPr lang="en-US" sz="530" b="1" kern="0" spc="42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Labs 08 – 09</a:t>
              </a:r>
              <a:endParaRPr lang="en-US" sz="530" dirty="0"/>
            </a:p>
          </p:txBody>
        </p:sp>
        <p:sp>
          <p:nvSpPr>
            <p:cNvPr id="37" name="Text 30"/>
            <p:cNvSpPr/>
            <p:nvPr/>
          </p:nvSpPr>
          <p:spPr>
            <a:xfrm>
              <a:off x="4867275" y="4019104"/>
              <a:ext cx="3499485" cy="1250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984"/>
                </a:lnSpc>
                <a:buNone/>
              </a:pPr>
              <a:r>
                <a:rPr lang="en-US" sz="820" b="1" dirty="0">
                  <a:solidFill>
                    <a:srgbClr val="E8F1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Models</a:t>
              </a:r>
              <a:endParaRPr lang="en-US" sz="820" dirty="0"/>
            </a:p>
          </p:txBody>
        </p:sp>
        <p:sp>
          <p:nvSpPr>
            <p:cNvPr id="38" name="Text 31"/>
            <p:cNvSpPr/>
            <p:nvPr/>
          </p:nvSpPr>
          <p:spPr>
            <a:xfrm>
              <a:off x="4867275" y="4165699"/>
              <a:ext cx="3244977" cy="251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43"/>
                </a:lnSpc>
                <a:buNone/>
              </a:pPr>
              <a:r>
                <a:rPr lang="en-US" sz="65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SVMs, Decision Trees, Random Forests, and ensemble methods — moving beyond single-model thinking.</a:t>
              </a:r>
              <a:endParaRPr lang="en-US" sz="650" dirty="0"/>
            </a:p>
          </p:txBody>
        </p:sp>
        <p:pic>
          <p:nvPicPr>
            <p:cNvPr id="39" name="Image 5" descr="preencoded.png"/>
            <p:cNvPicPr>
              <a:picLocks noChangeAspect="1"/>
            </p:cNvPicPr>
            <p:nvPr/>
          </p:nvPicPr>
          <p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39295" y="3726061"/>
              <a:ext cx="193328" cy="193328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D7C3DB9-EF7A-352B-D437-A08055D1B492}"/>
              </a:ext>
            </a:extLst>
          </p:cNvPr>
          <p:cNvGrpSpPr/>
          <p:nvPr/>
        </p:nvGrpSpPr>
        <p:grpSpPr>
          <a:xfrm>
            <a:off x="963811" y="3660520"/>
            <a:ext cx="3441427" cy="631775"/>
            <a:chOff x="963811" y="4532076"/>
            <a:chExt cx="3441427" cy="631775"/>
          </a:xfrm>
        </p:grpSpPr>
        <p:sp>
          <p:nvSpPr>
            <p:cNvPr id="40" name="Text 32"/>
            <p:cNvSpPr/>
            <p:nvPr/>
          </p:nvSpPr>
          <p:spPr>
            <a:xfrm>
              <a:off x="963811" y="4532076"/>
              <a:ext cx="3429000" cy="579239"/>
            </a:xfrm>
            <a:prstGeom prst="roundRect">
              <a:avLst>
                <a:gd name="adj" fmla="val 12278"/>
              </a:avLst>
            </a:prstGeom>
            <a:solidFill>
              <a:srgbClr val="1A2F47"/>
            </a:solidFill>
            <a:ln w="9525">
              <a:solidFill>
                <a:srgbClr val="38BDF8">
                  <a:alpha val="18000"/>
                </a:srgbClr>
              </a:solidFill>
            </a:ln>
            <a:effectLst>
              <a:outerShdw blurRad="128270" dist="29210" dir="5400000" algn="bl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1" name="Text 33"/>
            <p:cNvSpPr/>
            <p:nvPr/>
          </p:nvSpPr>
          <p:spPr>
            <a:xfrm>
              <a:off x="1095375" y="4559050"/>
              <a:ext cx="1684228" cy="857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795"/>
                </a:lnSpc>
                <a:buNone/>
              </a:pPr>
              <a:r>
                <a:rPr lang="en-US" sz="530" b="1" kern="0" spc="95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5</a:t>
              </a:r>
              <a:endParaRPr lang="en-US" sz="530" dirty="0"/>
            </a:p>
          </p:txBody>
        </p:sp>
        <p:sp>
          <p:nvSpPr>
            <p:cNvPr id="42" name="Text 34"/>
            <p:cNvSpPr/>
            <p:nvPr/>
          </p:nvSpPr>
          <p:spPr>
            <a:xfrm>
              <a:off x="1099170" y="4652701"/>
              <a:ext cx="620881" cy="135136"/>
            </a:xfrm>
            <a:prstGeom prst="roundRect">
              <a:avLst>
                <a:gd name="adj" fmla="val 106197"/>
              </a:avLst>
            </a:prstGeom>
            <a:solidFill>
              <a:srgbClr val="38BDF8">
                <a:alpha val="15000"/>
              </a:srgbClr>
            </a:solidFill>
            <a:ln w="9525">
              <a:solidFill>
                <a:srgbClr val="38BDF8">
                  <a:alpha val="35000"/>
                </a:srgbClr>
              </a:solidFill>
            </a:ln>
          </p:spPr>
          <p:txBody>
            <a:bodyPr wrap="none" lIns="64770" tIns="7620" rIns="64770" bIns="7620" rtlCol="0" anchor="t"/>
            <a:lstStyle/>
            <a:p>
              <a:pPr marL="0" indent="0" algn="l">
                <a:buNone/>
              </a:pPr>
              <a:r>
                <a:rPr lang="en-US" sz="530" b="1" kern="0" spc="42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Labs 10 – 11</a:t>
              </a:r>
              <a:endParaRPr lang="en-US" sz="530" dirty="0"/>
            </a:p>
          </p:txBody>
        </p:sp>
        <p:sp>
          <p:nvSpPr>
            <p:cNvPr id="43" name="Text 35"/>
            <p:cNvSpPr/>
            <p:nvPr/>
          </p:nvSpPr>
          <p:spPr>
            <a:xfrm>
              <a:off x="1124301" y="4795003"/>
              <a:ext cx="1684228" cy="1403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984"/>
                </a:lnSpc>
                <a:buNone/>
              </a:pPr>
              <a:r>
                <a:rPr lang="en-US" sz="820" b="1" dirty="0">
                  <a:solidFill>
                    <a:srgbClr val="E8F1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Unsupervised Learning</a:t>
              </a:r>
              <a:endParaRPr lang="en-US" sz="820" dirty="0"/>
            </a:p>
          </p:txBody>
        </p:sp>
        <p:sp>
          <p:nvSpPr>
            <p:cNvPr id="44" name="Text 36"/>
            <p:cNvSpPr/>
            <p:nvPr/>
          </p:nvSpPr>
          <p:spPr>
            <a:xfrm>
              <a:off x="1160261" y="4912570"/>
              <a:ext cx="3244977" cy="251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43"/>
                </a:lnSpc>
                <a:buNone/>
              </a:pPr>
              <a:r>
                <a:rPr lang="en-US" sz="65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K-Means clustering, PCA for dimensionality reduction, hyperparameter tuning, and first steps with AutoML.</a:t>
              </a:r>
              <a:endParaRPr lang="en-US" sz="650" dirty="0"/>
            </a:p>
          </p:txBody>
        </p:sp>
        <p:pic>
          <p:nvPicPr>
            <p:cNvPr id="45" name="Image 6" descr="preencoded.png"/>
            <p:cNvPicPr>
              <a:picLocks noChangeAspect="1"/>
            </p:cNvPicPr>
            <p:nvPr/>
          </p:nvPicPr>
          <p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1377" y="4644777"/>
              <a:ext cx="193328" cy="193328"/>
            </a:xfrm>
            <a:prstGeom prst="rect">
              <a:avLst/>
            </a:prstGeom>
          </p:spPr>
        </p:pic>
      </p:grpSp>
      <p:sp>
        <p:nvSpPr>
          <p:cNvPr id="48" name="Text 39"/>
          <p:cNvSpPr/>
          <p:nvPr/>
        </p:nvSpPr>
        <p:spPr>
          <a:xfrm>
            <a:off x="4867275" y="4128174"/>
            <a:ext cx="349948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9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CAPSTONE</a:t>
            </a:r>
            <a:endParaRPr lang="en-US" sz="530" dirty="0"/>
          </a:p>
        </p:txBody>
      </p:sp>
      <p:sp>
        <p:nvSpPr>
          <p:cNvPr id="49" name="Text 40"/>
          <p:cNvSpPr/>
          <p:nvPr/>
        </p:nvSpPr>
        <p:spPr>
          <a:xfrm>
            <a:off x="4867275" y="4242921"/>
            <a:ext cx="624676" cy="135136"/>
          </a:xfrm>
          <a:prstGeom prst="roundRect">
            <a:avLst>
              <a:gd name="adj" fmla="val 106197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64770" tIns="7620" rIns="6477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12 – 13</a:t>
            </a:r>
            <a:endParaRPr lang="en-US" sz="530" dirty="0"/>
          </a:p>
        </p:txBody>
      </p:sp>
      <p:sp>
        <p:nvSpPr>
          <p:cNvPr id="50" name="Text 41"/>
          <p:cNvSpPr/>
          <p:nvPr/>
        </p:nvSpPr>
        <p:spPr>
          <a:xfrm>
            <a:off x="4867275" y="4413478"/>
            <a:ext cx="349948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Production Pipelines</a:t>
            </a:r>
            <a:endParaRPr lang="en-US" sz="820" dirty="0"/>
          </a:p>
        </p:txBody>
      </p:sp>
      <p:sp>
        <p:nvSpPr>
          <p:cNvPr id="51" name="Text 42"/>
          <p:cNvSpPr/>
          <p:nvPr/>
        </p:nvSpPr>
        <p:spPr>
          <a:xfrm>
            <a:off x="4867275" y="4560073"/>
            <a:ext cx="3244977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fairness auditing, subgroup disparity analysis, and building production-ready, leakage-free ML pipelines.</a:t>
            </a:r>
            <a:endParaRPr lang="en-US" sz="650" dirty="0"/>
          </a:p>
        </p:txBody>
      </p:sp>
      <p:sp>
        <p:nvSpPr>
          <p:cNvPr id="52" name="Text 43"/>
          <p:cNvSpPr/>
          <p:nvPr/>
        </p:nvSpPr>
        <p:spPr>
          <a:xfrm>
            <a:off x="-24854" y="4871740"/>
            <a:ext cx="9144000" cy="271760"/>
          </a:xfrm>
          <a:prstGeom prst="rect">
            <a:avLst/>
          </a:prstGeom>
          <a:solidFill>
            <a:srgbClr val="38BDF8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1257291" y="4926955"/>
            <a:ext cx="308595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 · ITAI 1371 · HOUSTON COMMUNITY COLLEGE</a:t>
            </a:r>
            <a:endParaRPr lang="en-US" sz="590" dirty="0"/>
          </a:p>
        </p:txBody>
      </p:sp>
      <p:sp>
        <p:nvSpPr>
          <p:cNvPr id="55" name="Text 46"/>
          <p:cNvSpPr/>
          <p:nvPr/>
        </p:nvSpPr>
        <p:spPr>
          <a:xfrm>
            <a:off x="8295084" y="4987677"/>
            <a:ext cx="49411" cy="49411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8387655" y="4987677"/>
            <a:ext cx="49411" cy="49411"/>
          </a:xfrm>
          <a:prstGeom prst="ellipse">
            <a:avLst/>
          </a:prstGeom>
          <a:solidFill>
            <a:srgbClr val="38BDF8"/>
          </a:solidFill>
          <a:ln w="9525">
            <a:solidFill>
              <a:srgbClr val="38BDF8"/>
            </a:solidFill>
          </a:ln>
          <a:effectLst>
            <a:outerShdw blurRad="43180" dist="50800" dir="16200000" algn="bl" rotWithShape="0">
              <a:srgbClr val="38BDF8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8480227" y="4987677"/>
            <a:ext cx="49411" cy="49411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8572798" y="4987677"/>
            <a:ext cx="49411" cy="49411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8665369" y="4987677"/>
            <a:ext cx="49411" cy="49411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4391025" y="1308199"/>
            <a:ext cx="114300" cy="10120"/>
          </a:xfrm>
          <a:prstGeom prst="rect">
            <a:avLst/>
          </a:prstGeom>
          <a:gradFill rotWithShape="1">
            <a:gsLst>
              <a:gs pos="0">
                <a:srgbClr val="38BDF8">
                  <a:alpha val="40000"/>
                </a:srgbClr>
              </a:gs>
              <a:gs pos="100000">
                <a:srgbClr val="38BDF8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4638675" y="2226915"/>
            <a:ext cx="114300" cy="10120"/>
          </a:xfrm>
          <a:prstGeom prst="rect">
            <a:avLst/>
          </a:prstGeom>
          <a:gradFill rotWithShape="1">
            <a:gsLst>
              <a:gs pos="0">
                <a:srgbClr val="38BDF8">
                  <a:alpha val="40000"/>
                </a:srgbClr>
              </a:gs>
              <a:gs pos="100000">
                <a:srgbClr val="38BDF8">
                  <a:alpha val="9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D336CF8-3A3A-0BDE-B0A4-E9B0B6002872}"/>
              </a:ext>
            </a:extLst>
          </p:cNvPr>
          <p:cNvGrpSpPr/>
          <p:nvPr/>
        </p:nvGrpSpPr>
        <p:grpSpPr>
          <a:xfrm>
            <a:off x="4391025" y="2762685"/>
            <a:ext cx="244971" cy="128141"/>
            <a:chOff x="4391025" y="3086546"/>
            <a:chExt cx="244971" cy="128141"/>
          </a:xfrm>
        </p:grpSpPr>
        <p:sp>
          <p:nvSpPr>
            <p:cNvPr id="30" name="Text 23"/>
            <p:cNvSpPr/>
            <p:nvPr/>
          </p:nvSpPr>
          <p:spPr>
            <a:xfrm>
              <a:off x="4507855" y="3086546"/>
              <a:ext cx="128141" cy="128141"/>
            </a:xfrm>
            <a:prstGeom prst="ellipse">
              <a:avLst/>
            </a:prstGeom>
            <a:solidFill>
              <a:srgbClr val="1A2F47"/>
            </a:solidFill>
            <a:ln w="9525">
              <a:solidFill>
                <a:srgbClr val="38BDF8"/>
              </a:solidFill>
            </a:ln>
            <a:effectLst>
              <a:outerShdw blurRad="71120" dist="50800" dir="16200000" algn="bl" rotWithShape="0">
                <a:srgbClr val="38BDF8">
                  <a:alpha val="40000"/>
                </a:srgbClr>
              </a:outerShdw>
            </a:effectLst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1" name="Text 24"/>
            <p:cNvSpPr/>
            <p:nvPr/>
          </p:nvSpPr>
          <p:spPr>
            <a:xfrm>
              <a:off x="4547146" y="3125837"/>
              <a:ext cx="49411" cy="49411"/>
            </a:xfrm>
            <a:prstGeom prst="ellipse">
              <a:avLst/>
            </a:prstGeom>
            <a:solidFill>
              <a:srgbClr val="38BDF8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2" name="Text 53"/>
            <p:cNvSpPr/>
            <p:nvPr/>
          </p:nvSpPr>
          <p:spPr>
            <a:xfrm>
              <a:off x="4391025" y="3145631"/>
              <a:ext cx="114300" cy="10120"/>
            </a:xfrm>
            <a:prstGeom prst="rect">
              <a:avLst/>
            </a:prstGeom>
            <a:gradFill rotWithShape="1">
              <a:gsLst>
                <a:gs pos="0">
                  <a:srgbClr val="38BDF8">
                    <a:alpha val="40000"/>
                  </a:srgbClr>
                </a:gs>
                <a:gs pos="100000">
                  <a:srgbClr val="38BDF8">
                    <a:alpha val="90000"/>
                  </a:srgbClr>
                </a:gs>
              </a:gsLst>
              <a:lin ang="0" scaled="1"/>
            </a:gra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ED21810-F130-FB89-8685-D68F3D88B079}"/>
              </a:ext>
            </a:extLst>
          </p:cNvPr>
          <p:cNvGrpSpPr/>
          <p:nvPr/>
        </p:nvGrpSpPr>
        <p:grpSpPr>
          <a:xfrm>
            <a:off x="4507855" y="3443280"/>
            <a:ext cx="245120" cy="128141"/>
            <a:chOff x="4507855" y="4005262"/>
            <a:chExt cx="245120" cy="128141"/>
          </a:xfrm>
        </p:grpSpPr>
        <p:sp>
          <p:nvSpPr>
            <p:cNvPr id="32" name="Text 25"/>
            <p:cNvSpPr/>
            <p:nvPr/>
          </p:nvSpPr>
          <p:spPr>
            <a:xfrm>
              <a:off x="4507855" y="4005262"/>
              <a:ext cx="128141" cy="128141"/>
            </a:xfrm>
            <a:prstGeom prst="ellipse">
              <a:avLst/>
            </a:prstGeom>
            <a:solidFill>
              <a:srgbClr val="1A2F47"/>
            </a:solidFill>
            <a:ln w="9525">
              <a:solidFill>
                <a:srgbClr val="38BDF8"/>
              </a:solidFill>
            </a:ln>
            <a:effectLst>
              <a:outerShdw blurRad="71120" dist="50800" dir="16200000" algn="bl" rotWithShape="0">
                <a:srgbClr val="38BDF8">
                  <a:alpha val="40000"/>
                </a:srgbClr>
              </a:outerShdw>
            </a:effectLst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3" name="Text 26"/>
            <p:cNvSpPr/>
            <p:nvPr/>
          </p:nvSpPr>
          <p:spPr>
            <a:xfrm>
              <a:off x="4547146" y="4044553"/>
              <a:ext cx="49411" cy="49411"/>
            </a:xfrm>
            <a:prstGeom prst="ellipse">
              <a:avLst/>
            </a:prstGeom>
            <a:solidFill>
              <a:srgbClr val="38BDF8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3" name="Text 54"/>
            <p:cNvSpPr/>
            <p:nvPr/>
          </p:nvSpPr>
          <p:spPr>
            <a:xfrm>
              <a:off x="4638675" y="4064347"/>
              <a:ext cx="114300" cy="10120"/>
            </a:xfrm>
            <a:prstGeom prst="rect">
              <a:avLst/>
            </a:prstGeom>
            <a:gradFill rotWithShape="1">
              <a:gsLst>
                <a:gs pos="0">
                  <a:srgbClr val="38BDF8">
                    <a:alpha val="40000"/>
                  </a:srgbClr>
                </a:gs>
                <a:gs pos="100000">
                  <a:srgbClr val="38BDF8">
                    <a:alpha val="90000"/>
                  </a:srgbClr>
                </a:gs>
              </a:gsLst>
              <a:lin ang="10800000" scaled="1"/>
            </a:gra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AA20124-CB42-A1F9-8D6B-D2BEF767F389}"/>
              </a:ext>
            </a:extLst>
          </p:cNvPr>
          <p:cNvGrpSpPr/>
          <p:nvPr/>
        </p:nvGrpSpPr>
        <p:grpSpPr>
          <a:xfrm>
            <a:off x="4391025" y="3942896"/>
            <a:ext cx="244971" cy="128141"/>
            <a:chOff x="4391025" y="4923979"/>
            <a:chExt cx="244971" cy="128141"/>
          </a:xfrm>
        </p:grpSpPr>
        <p:sp>
          <p:nvSpPr>
            <p:cNvPr id="46" name="Text 37"/>
            <p:cNvSpPr/>
            <p:nvPr/>
          </p:nvSpPr>
          <p:spPr>
            <a:xfrm>
              <a:off x="4507855" y="4923979"/>
              <a:ext cx="128141" cy="128141"/>
            </a:xfrm>
            <a:prstGeom prst="ellipse">
              <a:avLst/>
            </a:prstGeom>
            <a:solidFill>
              <a:srgbClr val="1A2F47"/>
            </a:solidFill>
            <a:ln w="9525">
              <a:solidFill>
                <a:srgbClr val="38BDF8"/>
              </a:solidFill>
            </a:ln>
            <a:effectLst>
              <a:outerShdw blurRad="71120" dist="50800" dir="16200000" algn="bl" rotWithShape="0">
                <a:srgbClr val="38BDF8">
                  <a:alpha val="40000"/>
                </a:srgbClr>
              </a:outerShdw>
            </a:effectLst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7" name="Text 38"/>
            <p:cNvSpPr/>
            <p:nvPr/>
          </p:nvSpPr>
          <p:spPr>
            <a:xfrm>
              <a:off x="4547146" y="4963269"/>
              <a:ext cx="49411" cy="49411"/>
            </a:xfrm>
            <a:prstGeom prst="ellipse">
              <a:avLst/>
            </a:prstGeom>
            <a:solidFill>
              <a:srgbClr val="38BDF8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4" name="Text 55"/>
            <p:cNvSpPr/>
            <p:nvPr/>
          </p:nvSpPr>
          <p:spPr>
            <a:xfrm>
              <a:off x="4391025" y="4983063"/>
              <a:ext cx="114300" cy="10120"/>
            </a:xfrm>
            <a:prstGeom prst="rect">
              <a:avLst/>
            </a:prstGeom>
            <a:gradFill rotWithShape="1">
              <a:gsLst>
                <a:gs pos="0">
                  <a:srgbClr val="38BDF8">
                    <a:alpha val="40000"/>
                  </a:srgbClr>
                </a:gs>
                <a:gs pos="100000">
                  <a:srgbClr val="38BDF8">
                    <a:alpha val="90000"/>
                  </a:srgbClr>
                </a:gs>
              </a:gsLst>
              <a:lin ang="0" scaled="1"/>
            </a:gra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2A13DBE-2929-0944-3100-2BFFBF729B48}"/>
              </a:ext>
            </a:extLst>
          </p:cNvPr>
          <p:cNvGrpSpPr/>
          <p:nvPr/>
        </p:nvGrpSpPr>
        <p:grpSpPr>
          <a:xfrm>
            <a:off x="4512616" y="4401451"/>
            <a:ext cx="245120" cy="128141"/>
            <a:chOff x="4512616" y="4401451"/>
            <a:chExt cx="245120" cy="128141"/>
          </a:xfrm>
        </p:grpSpPr>
        <p:sp>
          <p:nvSpPr>
            <p:cNvPr id="74" name="Text 11">
              <a:extLst>
                <a:ext uri="{FF2B5EF4-FFF2-40B4-BE49-F238E27FC236}">
                  <a16:creationId xmlns:a16="http://schemas.microsoft.com/office/drawing/2014/main" id="{0706BD2C-8B0A-F2F6-F733-549CF9A40FD2}"/>
                </a:ext>
              </a:extLst>
            </p:cNvPr>
            <p:cNvSpPr/>
            <p:nvPr/>
          </p:nvSpPr>
          <p:spPr>
            <a:xfrm>
              <a:off x="4512616" y="4401451"/>
              <a:ext cx="128141" cy="128141"/>
            </a:xfrm>
            <a:prstGeom prst="ellipse">
              <a:avLst/>
            </a:prstGeom>
            <a:solidFill>
              <a:srgbClr val="1A2F47"/>
            </a:solidFill>
            <a:ln w="9525">
              <a:solidFill>
                <a:srgbClr val="38BDF8"/>
              </a:solidFill>
            </a:ln>
            <a:effectLst>
              <a:outerShdw blurRad="71120" dist="50800" dir="16200000" algn="bl" rotWithShape="0">
                <a:srgbClr val="38BDF8">
                  <a:alpha val="40000"/>
                </a:srgbClr>
              </a:outerShdw>
            </a:effectLst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6" name="Text 12">
              <a:extLst>
                <a:ext uri="{FF2B5EF4-FFF2-40B4-BE49-F238E27FC236}">
                  <a16:creationId xmlns:a16="http://schemas.microsoft.com/office/drawing/2014/main" id="{4DF6625D-959B-02E2-9BA1-B448FD5C627E}"/>
                </a:ext>
              </a:extLst>
            </p:cNvPr>
            <p:cNvSpPr/>
            <p:nvPr/>
          </p:nvSpPr>
          <p:spPr>
            <a:xfrm>
              <a:off x="4551907" y="4440742"/>
              <a:ext cx="49411" cy="49411"/>
            </a:xfrm>
            <a:prstGeom prst="ellipse">
              <a:avLst/>
            </a:prstGeom>
            <a:solidFill>
              <a:srgbClr val="38BDF8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8" name="Text 52">
              <a:extLst>
                <a:ext uri="{FF2B5EF4-FFF2-40B4-BE49-F238E27FC236}">
                  <a16:creationId xmlns:a16="http://schemas.microsoft.com/office/drawing/2014/main" id="{22030281-A84C-8BCA-5C4C-4CC57173C91E}"/>
                </a:ext>
              </a:extLst>
            </p:cNvPr>
            <p:cNvSpPr/>
            <p:nvPr/>
          </p:nvSpPr>
          <p:spPr>
            <a:xfrm>
              <a:off x="4643436" y="4460536"/>
              <a:ext cx="114300" cy="10120"/>
            </a:xfrm>
            <a:prstGeom prst="rect">
              <a:avLst/>
            </a:prstGeom>
            <a:gradFill rotWithShape="1">
              <a:gsLst>
                <a:gs pos="0">
                  <a:srgbClr val="38BDF8">
                    <a:alpha val="40000"/>
                  </a:srgbClr>
                </a:gs>
                <a:gs pos="100000">
                  <a:srgbClr val="38BDF8">
                    <a:alpha val="90000"/>
                  </a:srgbClr>
                </a:gs>
              </a:gsLst>
              <a:lin ang="10800000" scaled="1"/>
            </a:gra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571750" cy="2571750"/>
          </a:xfrm>
          <a:prstGeom prst="ellipse">
            <a:avLst/>
          </a:prstGeom>
          <a:gradFill rotWithShape="1">
            <a:gsLst>
              <a:gs pos="0">
                <a:srgbClr val="38BDF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3000970"/>
            <a:ext cx="2286000" cy="2142530"/>
          </a:xfrm>
          <a:prstGeom prst="ellipse">
            <a:avLst/>
          </a:prstGeom>
          <a:gradFill rotWithShape="1">
            <a:gsLst>
              <a:gs pos="0">
                <a:srgbClr val="38BDF8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480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5737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8545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4802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7610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867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675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2932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740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9975" y="1244501"/>
            <a:ext cx="1257300" cy="21580"/>
          </a:xfrm>
          <a:custGeom>
            <a:avLst/>
            <a:gdLst/>
            <a:ahLst/>
            <a:cxnLst/>
            <a:rect l="l" t="t" r="r" b="b"/>
            <a:pathLst>
              <a:path w="1257300" h="21580">
                <a:moveTo>
                  <a:pt x="114300" y="0"/>
                </a:moveTo>
                <a:lnTo>
                  <a:pt x="1143000" y="0"/>
                </a:lnTo>
                <a:lnTo>
                  <a:pt x="1167685" y="2698"/>
                </a:lnTo>
                <a:lnTo>
                  <a:pt x="1177701" y="5395"/>
                </a:lnTo>
                <a:lnTo>
                  <a:pt x="1185243" y="8093"/>
                </a:lnTo>
                <a:lnTo>
                  <a:pt x="1191479" y="10790"/>
                </a:lnTo>
                <a:lnTo>
                  <a:pt x="1196864" y="13488"/>
                </a:lnTo>
                <a:lnTo>
                  <a:pt x="1201634" y="16185"/>
                </a:lnTo>
                <a:lnTo>
                  <a:pt x="1205928" y="18883"/>
                </a:lnTo>
                <a:lnTo>
                  <a:pt x="12098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48055" y="4083989"/>
            <a:ext cx="714970" cy="71497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6791" y="324445"/>
            <a:ext cx="99470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b="1" kern="0" spc="112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457200" y="367010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32062" y="367010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476101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kern="0" spc="-24" dirty="0">
                <a:solidFill>
                  <a:srgbClr val="E8F1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 </a:t>
            </a:r>
            <a:r>
              <a:rPr lang="en-US" sz="2360" b="1" kern="0" spc="-24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2360" dirty="0"/>
          </a:p>
        </p:txBody>
      </p:sp>
      <p:sp>
        <p:nvSpPr>
          <p:cNvPr id="21" name="Text 19"/>
          <p:cNvSpPr/>
          <p:nvPr/>
        </p:nvSpPr>
        <p:spPr>
          <a:xfrm>
            <a:off x="457200" y="878086"/>
            <a:ext cx="9052560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0"/>
              </a:lnSpc>
              <a:spcBef>
                <a:spcPts val="230"/>
              </a:spcBef>
              <a:buNone/>
            </a:pPr>
            <a:r>
              <a:rPr lang="en-US" sz="820" kern="0" spc="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820" b="1" kern="0" spc="8" dirty="0">
                <a:solidFill>
                  <a:srgbClr val="38BDF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Iris samples</a:t>
            </a:r>
            <a:r>
              <a:rPr lang="en-US" sz="820" kern="0" spc="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820" b="1" kern="0" spc="8" dirty="0">
                <a:solidFill>
                  <a:srgbClr val="38BDF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14,712 social media posts</a:t>
            </a:r>
            <a:r>
              <a:rPr lang="en-US" sz="820" kern="0" spc="8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growing in scale and complexity every week.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5720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66490" y="232216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007" y="2384682"/>
            <a:ext cx="132588" cy="13258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95945" y="2666256"/>
            <a:ext cx="41880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kern="0" spc="-59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930" dirty="0"/>
          </a:p>
        </p:txBody>
      </p:sp>
      <p:sp>
        <p:nvSpPr>
          <p:cNvPr id="26" name="Text 23"/>
          <p:cNvSpPr/>
          <p:nvPr/>
        </p:nvSpPr>
        <p:spPr>
          <a:xfrm>
            <a:off x="995065" y="315262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74156" y="3223617"/>
            <a:ext cx="642437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84785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357140" y="232216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9657" y="2384682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386310" y="2666256"/>
            <a:ext cx="20940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kern="0" spc="-59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930" dirty="0"/>
          </a:p>
        </p:txBody>
      </p:sp>
      <p:sp>
        <p:nvSpPr>
          <p:cNvPr id="32" name="Text 28"/>
          <p:cNvSpPr/>
          <p:nvPr/>
        </p:nvSpPr>
        <p:spPr>
          <a:xfrm>
            <a:off x="2385715" y="315262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209133" y="3223617"/>
            <a:ext cx="553784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323850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747790" y="236532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307" y="2427842"/>
            <a:ext cx="132588" cy="1325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485704" y="2709416"/>
            <a:ext cx="8365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kern="0" spc="-4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endParaRPr lang="en-US" sz="2250" dirty="0"/>
          </a:p>
        </p:txBody>
      </p:sp>
      <p:sp>
        <p:nvSpPr>
          <p:cNvPr id="38" name="Text 33"/>
          <p:cNvSpPr/>
          <p:nvPr/>
        </p:nvSpPr>
        <p:spPr>
          <a:xfrm>
            <a:off x="3776365" y="310946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3464373" y="3180457"/>
            <a:ext cx="824603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462915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138440" y="236532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0957" y="2427842"/>
            <a:ext cx="132588" cy="1325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847332" y="2709416"/>
            <a:ext cx="8986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kern="0" spc="-4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14,712</a:t>
            </a:r>
            <a:endParaRPr lang="en-US" sz="2250" dirty="0"/>
          </a:p>
        </p:txBody>
      </p:sp>
      <p:sp>
        <p:nvSpPr>
          <p:cNvPr id="44" name="Text 38"/>
          <p:cNvSpPr/>
          <p:nvPr/>
        </p:nvSpPr>
        <p:spPr>
          <a:xfrm>
            <a:off x="5167015" y="310946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992103" y="3180457"/>
            <a:ext cx="550444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700" dirty="0"/>
          </a:p>
        </p:txBody>
      </p:sp>
      <p:sp>
        <p:nvSpPr>
          <p:cNvPr id="46" name="Text 40"/>
          <p:cNvSpPr/>
          <p:nvPr/>
        </p:nvSpPr>
        <p:spPr>
          <a:xfrm>
            <a:off x="601980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529090" y="232216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1607" y="2384682"/>
            <a:ext cx="132588" cy="13258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558260" y="2666256"/>
            <a:ext cx="20940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kern="0" spc="-59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930" dirty="0"/>
          </a:p>
        </p:txBody>
      </p:sp>
      <p:sp>
        <p:nvSpPr>
          <p:cNvPr id="50" name="Text 43"/>
          <p:cNvSpPr/>
          <p:nvPr/>
        </p:nvSpPr>
        <p:spPr>
          <a:xfrm>
            <a:off x="6557665" y="315262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350117" y="3223617"/>
            <a:ext cx="615568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7410450" y="1234976"/>
            <a:ext cx="1276350" cy="3287762"/>
          </a:xfrm>
          <a:prstGeom prst="roundRect">
            <a:avLst>
              <a:gd name="adj" fmla="val 8955"/>
            </a:avLst>
          </a:prstGeom>
          <a:solidFill>
            <a:srgbClr val="1A2F47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7919740" y="236532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2257" y="2427842"/>
            <a:ext cx="132588" cy="132588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705279" y="2709416"/>
            <a:ext cx="7346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kern="0" spc="-45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250" dirty="0"/>
          </a:p>
        </p:txBody>
      </p:sp>
      <p:sp>
        <p:nvSpPr>
          <p:cNvPr id="56" name="Text 48"/>
          <p:cNvSpPr/>
          <p:nvPr/>
        </p:nvSpPr>
        <p:spPr>
          <a:xfrm>
            <a:off x="7948315" y="3109466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7590478" y="3180457"/>
            <a:ext cx="916293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br/>
            <a:r>
              <a:rPr lang="en-US" sz="700" b="1" kern="0" spc="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457200" y="4650879"/>
            <a:ext cx="2439046" cy="234851"/>
          </a:xfrm>
          <a:prstGeom prst="roundRect">
            <a:avLst>
              <a:gd name="adj" fmla="val 73004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08191" tIns="43180" rIns="114300" bIns="4318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Semester-long scale-up: 150 → 14,712 data points</a:t>
            </a:r>
            <a:endParaRPr lang="en-US" sz="68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382" y="4701936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573018" y="4706392"/>
            <a:ext cx="342516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kern="0" spc="39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 · ITAI 1371 · HOUSTON COMMUNITY COLLEGE ·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60000">
                <a:srgbClr val="0284C7"/>
              </a:gs>
              <a:gs pos="100000">
                <a:srgbClr val="38BDF8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1750" y="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372070"/>
            <a:ext cx="1037889" cy="207913"/>
          </a:xfrm>
          <a:prstGeom prst="roundRect">
            <a:avLst>
              <a:gd name="adj" fmla="val 69024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222220" tIns="35560" rIns="100330" bIns="3556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62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982" y="409733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2070" y="737443"/>
            <a:ext cx="3059775" cy="692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560"/>
              </a:spcAft>
              <a:buNone/>
            </a:pPr>
            <a:r>
              <a:rPr lang="en-US" sz="236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Mental Health</a:t>
            </a:r>
            <a:br/>
            <a:r>
              <a:rPr lang="en-US" sz="236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Sentiment?</a:t>
            </a:r>
            <a:endParaRPr lang="en-US" sz="2360" dirty="0"/>
          </a:p>
        </p:txBody>
      </p:sp>
      <p:sp>
        <p:nvSpPr>
          <p:cNvPr id="9" name="Text 6"/>
          <p:cNvSpPr/>
          <p:nvPr/>
        </p:nvSpPr>
        <p:spPr>
          <a:xfrm>
            <a:off x="372070" y="1467743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72070" y="1660773"/>
            <a:ext cx="3059775" cy="614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5"/>
              </a:lnSpc>
              <a:spcAft>
                <a:spcPts val="1240"/>
              </a:spcAft>
              <a:buNone/>
            </a:pPr>
            <a:r>
              <a:rPr lang="en-US" sz="930" dirty="0">
                <a:solidFill>
                  <a:srgbClr val="E8F1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 contain </a:t>
            </a:r>
            <a:r>
              <a:rPr lang="en-US" sz="930" b="1" dirty="0">
                <a:solidFill>
                  <a:srgbClr val="38BDF8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</a:t>
            </a:r>
            <a:r>
              <a:rPr lang="en-US" sz="930" dirty="0">
                <a:solidFill>
                  <a:srgbClr val="E8F1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a user's mental health state — yet reading them manually at scale is impossible.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372070" y="2403128"/>
            <a:ext cx="2999780" cy="54786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lIns="114300" tIns="100330" rIns="114300" bIns="100330" rtlCol="0" anchor="t"/>
          <a:lstStyle/>
          <a:p>
            <a:pPr marL="0" indent="0" algn="l">
              <a:buNone/>
            </a:pP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machine learning model </a:t>
            </a: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posts as </a:t>
            </a: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Moderate,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Severe?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372070" y="2403128"/>
            <a:ext cx="19050" cy="531912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2070" y="3092500"/>
            <a:ext cx="1079635" cy="238571"/>
          </a:xfrm>
          <a:prstGeom prst="roundRect">
            <a:avLst>
              <a:gd name="adj" fmla="val 6015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213012" tIns="43180" rIns="100330" bIns="4318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8F1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14,712 Real Posts</a:t>
            </a:r>
            <a:endParaRPr lang="en-US" sz="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63" y="3145491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1527" y="3092500"/>
            <a:ext cx="938608" cy="238571"/>
          </a:xfrm>
          <a:prstGeom prst="roundRect">
            <a:avLst>
              <a:gd name="adj" fmla="val 6015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213012" tIns="43180" rIns="100330" bIns="4318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8F1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Corpus</a:t>
            </a:r>
            <a:endParaRPr lang="en-US" sz="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9819" y="3145491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92722" y="3092500"/>
            <a:ext cx="842820" cy="238571"/>
          </a:xfrm>
          <a:prstGeom prst="roundRect">
            <a:avLst>
              <a:gd name="adj" fmla="val 6015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213012" tIns="43180" rIns="100330" bIns="4318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8F1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Conditions</a:t>
            </a:r>
            <a:endParaRPr lang="en-US" sz="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1015" y="3145491"/>
            <a:ext cx="132588" cy="132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2070" y="3402062"/>
            <a:ext cx="1259068" cy="238571"/>
          </a:xfrm>
          <a:prstGeom prst="roundRect">
            <a:avLst>
              <a:gd name="adj" fmla="val 6015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2000"/>
              </a:srgbClr>
            </a:solidFill>
          </a:ln>
        </p:spPr>
        <p:txBody>
          <a:bodyPr wrap="none" lIns="213012" tIns="43180" rIns="100330" bIns="4318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8F1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TF-IDF Features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363" y="3455054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57910" y="0"/>
            <a:ext cx="538609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4100810" y="314920"/>
            <a:ext cx="1005099" cy="207913"/>
          </a:xfrm>
          <a:prstGeom prst="roundRect">
            <a:avLst>
              <a:gd name="adj" fmla="val 69024"/>
            </a:avLst>
          </a:prstGeom>
          <a:solidFill>
            <a:srgbClr val="0284C7">
              <a:alpha val="10000"/>
            </a:srgbClr>
          </a:solidFill>
          <a:ln w="9525">
            <a:solidFill>
              <a:srgbClr val="0284C7">
                <a:alpha val="25000"/>
              </a:srgbClr>
            </a:solidFill>
          </a:ln>
        </p:spPr>
        <p:txBody>
          <a:bodyPr wrap="none" lIns="222220" tIns="35560" rIns="100330" bIns="3556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62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6721" y="352583"/>
            <a:ext cx="132588" cy="132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00810" y="650974"/>
            <a:ext cx="4998098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450"/>
              </a:spcAft>
              <a:buNone/>
            </a:pPr>
            <a:r>
              <a:rPr lang="en-US" sz="236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</a:t>
            </a:r>
            <a:r>
              <a:rPr lang="en-US" sz="2360" b="1" dirty="0">
                <a:solidFill>
                  <a:srgbClr val="028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</a:t>
            </a:r>
            <a:r>
              <a:rPr lang="en-US" sz="236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Comparison</a:t>
            </a:r>
            <a:endParaRPr lang="en-US" sz="2360" dirty="0"/>
          </a:p>
        </p:txBody>
      </p:sp>
      <p:sp>
        <p:nvSpPr>
          <p:cNvPr id="25" name="Text 17"/>
          <p:cNvSpPr/>
          <p:nvPr/>
        </p:nvSpPr>
        <p:spPr>
          <a:xfrm>
            <a:off x="4100810" y="1037779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284C7"/>
              </a:gs>
              <a:gs pos="100000">
                <a:srgbClr val="0284C7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3757910" y="0"/>
            <a:ext cx="538609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3757910" y="0"/>
            <a:ext cx="538609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4100810" y="1259979"/>
            <a:ext cx="2170200" cy="151269"/>
          </a:xfrm>
          <a:prstGeom prst="rect">
            <a:avLst/>
          </a:prstGeom>
          <a:noFill/>
          <a:ln/>
        </p:spPr>
        <p:txBody>
          <a:bodyPr wrap="square" lIns="100330" tIns="29210" rIns="100330" bIns="2921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6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620" dirty="0"/>
          </a:p>
        </p:txBody>
      </p:sp>
      <p:sp>
        <p:nvSpPr>
          <p:cNvPr id="29" name="Text 21"/>
          <p:cNvSpPr/>
          <p:nvPr/>
        </p:nvSpPr>
        <p:spPr>
          <a:xfrm>
            <a:off x="6228457" y="1259979"/>
            <a:ext cx="910221" cy="151269"/>
          </a:xfrm>
          <a:prstGeom prst="rect">
            <a:avLst/>
          </a:prstGeom>
          <a:noFill/>
          <a:ln/>
        </p:spPr>
        <p:txBody>
          <a:bodyPr wrap="square" lIns="100330" tIns="29210" rIns="100330" bIns="2921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6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620" dirty="0"/>
          </a:p>
        </p:txBody>
      </p:sp>
      <p:sp>
        <p:nvSpPr>
          <p:cNvPr id="30" name="Text 22"/>
          <p:cNvSpPr/>
          <p:nvPr/>
        </p:nvSpPr>
        <p:spPr>
          <a:xfrm>
            <a:off x="7120830" y="1259979"/>
            <a:ext cx="859974" cy="151269"/>
          </a:xfrm>
          <a:prstGeom prst="rect">
            <a:avLst/>
          </a:prstGeom>
          <a:noFill/>
          <a:ln/>
        </p:spPr>
        <p:txBody>
          <a:bodyPr wrap="square" lIns="100330" tIns="29210" rIns="100330" bIns="2921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6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620" dirty="0"/>
          </a:p>
        </p:txBody>
      </p:sp>
      <p:sp>
        <p:nvSpPr>
          <p:cNvPr id="31" name="Text 23"/>
          <p:cNvSpPr/>
          <p:nvPr/>
        </p:nvSpPr>
        <p:spPr>
          <a:xfrm>
            <a:off x="7963942" y="1259979"/>
            <a:ext cx="824148" cy="151269"/>
          </a:xfrm>
          <a:prstGeom prst="rect">
            <a:avLst/>
          </a:prstGeom>
          <a:noFill/>
          <a:ln/>
        </p:spPr>
        <p:txBody>
          <a:bodyPr wrap="square" lIns="100330" tIns="29210" rIns="100330" bIns="2921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6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620" dirty="0"/>
          </a:p>
        </p:txBody>
      </p:sp>
      <p:sp>
        <p:nvSpPr>
          <p:cNvPr id="32" name="Text 24"/>
          <p:cNvSpPr/>
          <p:nvPr/>
        </p:nvSpPr>
        <p:spPr>
          <a:xfrm>
            <a:off x="4100810" y="1461195"/>
            <a:ext cx="2170200" cy="339626"/>
          </a:xfrm>
          <a:prstGeom prst="roundRect">
            <a:avLst>
              <a:gd name="adj" fmla="val 20941"/>
            </a:avLst>
          </a:prstGeom>
          <a:solidFill>
            <a:srgbClr val="F0FDF4"/>
          </a:solidFill>
          <a:ln/>
        </p:spPr>
        <p:txBody>
          <a:bodyPr wrap="none" lIns="100330" tIns="86360" rIns="100330" bIns="86360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560" b="1" kern="0" spc="45" dirty="0">
                <a:solidFill>
                  <a:srgbClr val="16A34A"/>
                </a:solidFill>
                <a:highlight>
                  <a:srgbClr val="DCFCE7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820" dirty="0"/>
          </a:p>
        </p:txBody>
      </p:sp>
      <p:sp>
        <p:nvSpPr>
          <p:cNvPr id="33" name="Text 25"/>
          <p:cNvSpPr/>
          <p:nvPr/>
        </p:nvSpPr>
        <p:spPr>
          <a:xfrm>
            <a:off x="4100810" y="1461195"/>
            <a:ext cx="19050" cy="339626"/>
          </a:xfrm>
          <a:custGeom>
            <a:avLst/>
            <a:gdLst/>
            <a:ahLst/>
            <a:cxnLst/>
            <a:rect l="l" t="t" r="r" b="b"/>
            <a:pathLst>
              <a:path w="19050" h="339626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16949"/>
                </a:lnTo>
                <a:lnTo>
                  <a:pt x="16669" y="314256"/>
                </a:lnTo>
                <a:lnTo>
                  <a:pt x="14288" y="311262"/>
                </a:lnTo>
                <a:lnTo>
                  <a:pt x="11906" y="307898"/>
                </a:lnTo>
                <a:lnTo>
                  <a:pt x="9525" y="304060"/>
                </a:lnTo>
                <a:lnTo>
                  <a:pt x="7144" y="299572"/>
                </a:lnTo>
                <a:lnTo>
                  <a:pt x="4763" y="294094"/>
                </a:lnTo>
                <a:lnTo>
                  <a:pt x="2381" y="286755"/>
                </a:lnTo>
                <a:lnTo>
                  <a:pt x="0" y="268506"/>
                </a:lnTo>
                <a:close/>
              </a:path>
            </a:pathLst>
          </a:custGeom>
          <a:solidFill>
            <a:srgbClr val="16A3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228457" y="1461195"/>
            <a:ext cx="892373" cy="339626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6328767" y="1606302"/>
            <a:ext cx="305693" cy="49411"/>
          </a:xfrm>
          <a:prstGeom prst="roundRect">
            <a:avLst>
              <a:gd name="adj" fmla="val 59116"/>
            </a:avLst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328767" y="1606302"/>
            <a:ext cx="267742" cy="49411"/>
          </a:xfrm>
          <a:prstGeom prst="roundRect">
            <a:avLst>
              <a:gd name="adj" fmla="val 59116"/>
            </a:avLst>
          </a:prstGeom>
          <a:gradFill rotWithShape="1">
            <a:gsLst>
              <a:gs pos="0">
                <a:srgbClr val="16A34A"/>
              </a:gs>
              <a:gs pos="100000">
                <a:srgbClr val="22C55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658719" y="1578620"/>
            <a:ext cx="36180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0"/>
              </a:lnSpc>
              <a:buNone/>
            </a:pPr>
            <a:r>
              <a:rPr lang="en-US" sz="76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87.63%</a:t>
            </a:r>
            <a:endParaRPr lang="en-US" sz="760" dirty="0"/>
          </a:p>
        </p:txBody>
      </p:sp>
      <p:sp>
        <p:nvSpPr>
          <p:cNvPr id="38" name="Text 30"/>
          <p:cNvSpPr/>
          <p:nvPr/>
        </p:nvSpPr>
        <p:spPr>
          <a:xfrm>
            <a:off x="7120830" y="1461195"/>
            <a:ext cx="843111" cy="339626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7963942" y="1461195"/>
            <a:ext cx="807988" cy="339626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100810" y="1857970"/>
            <a:ext cx="2170200" cy="320576"/>
          </a:xfrm>
          <a:prstGeom prst="roundRect">
            <a:avLst>
              <a:gd name="adj" fmla="val 22185"/>
            </a:avLst>
          </a:prstGeom>
          <a:solidFill>
            <a:srgbClr val="FFFFFF"/>
          </a:solidFill>
          <a:ln/>
        </p:spPr>
        <p:txBody>
          <a:bodyPr wrap="none" lIns="100330" tIns="86360" rIns="100330" bIns="86360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820" dirty="0"/>
          </a:p>
        </p:txBody>
      </p:sp>
      <p:sp>
        <p:nvSpPr>
          <p:cNvPr id="41" name="Text 33"/>
          <p:cNvSpPr/>
          <p:nvPr/>
        </p:nvSpPr>
        <p:spPr>
          <a:xfrm>
            <a:off x="6228457" y="1857970"/>
            <a:ext cx="892373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328767" y="1993553"/>
            <a:ext cx="305693" cy="49411"/>
          </a:xfrm>
          <a:prstGeom prst="roundRect">
            <a:avLst>
              <a:gd name="adj" fmla="val 59116"/>
            </a:avLst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328767" y="1993553"/>
            <a:ext cx="268486" cy="49411"/>
          </a:xfrm>
          <a:prstGeom prst="roundRect">
            <a:avLst>
              <a:gd name="adj" fmla="val 59116"/>
            </a:avLst>
          </a:prstGeom>
          <a:gradFill rotWithShape="1">
            <a:gsLst>
              <a:gs pos="0">
                <a:srgbClr val="38BDF8"/>
              </a:gs>
              <a:gs pos="100000">
                <a:srgbClr val="0284C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658719" y="1965871"/>
            <a:ext cx="36180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0"/>
              </a:lnSpc>
              <a:buNone/>
            </a:pPr>
            <a:r>
              <a:rPr lang="en-US" sz="76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87.87%</a:t>
            </a:r>
            <a:endParaRPr lang="en-US" sz="760" dirty="0"/>
          </a:p>
        </p:txBody>
      </p:sp>
      <p:sp>
        <p:nvSpPr>
          <p:cNvPr id="45" name="Text 37"/>
          <p:cNvSpPr/>
          <p:nvPr/>
        </p:nvSpPr>
        <p:spPr>
          <a:xfrm>
            <a:off x="7120830" y="1857970"/>
            <a:ext cx="843111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7963942" y="1857970"/>
            <a:ext cx="824148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100330" tIns="86360" rIns="100330" bIns="8636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0.8384</a:t>
            </a:r>
            <a:endParaRPr lang="en-US" sz="760" dirty="0"/>
          </a:p>
        </p:txBody>
      </p:sp>
      <p:sp>
        <p:nvSpPr>
          <p:cNvPr id="47" name="Text 39"/>
          <p:cNvSpPr/>
          <p:nvPr/>
        </p:nvSpPr>
        <p:spPr>
          <a:xfrm>
            <a:off x="4100810" y="2235696"/>
            <a:ext cx="2170200" cy="320576"/>
          </a:xfrm>
          <a:prstGeom prst="roundRect">
            <a:avLst>
              <a:gd name="adj" fmla="val 22185"/>
            </a:avLst>
          </a:prstGeom>
          <a:solidFill>
            <a:srgbClr val="FFFFFF"/>
          </a:solidFill>
          <a:ln/>
        </p:spPr>
        <p:txBody>
          <a:bodyPr wrap="none" lIns="100330" tIns="86360" rIns="100330" bIns="86360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820" dirty="0"/>
          </a:p>
        </p:txBody>
      </p:sp>
      <p:sp>
        <p:nvSpPr>
          <p:cNvPr id="48" name="Text 40"/>
          <p:cNvSpPr/>
          <p:nvPr/>
        </p:nvSpPr>
        <p:spPr>
          <a:xfrm>
            <a:off x="6228457" y="2235696"/>
            <a:ext cx="892373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6328767" y="2371279"/>
            <a:ext cx="305693" cy="49411"/>
          </a:xfrm>
          <a:prstGeom prst="roundRect">
            <a:avLst>
              <a:gd name="adj" fmla="val 59116"/>
            </a:avLst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6328767" y="2371279"/>
            <a:ext cx="229791" cy="49411"/>
          </a:xfrm>
          <a:prstGeom prst="roundRect">
            <a:avLst>
              <a:gd name="adj" fmla="val 59116"/>
            </a:avLst>
          </a:prstGeom>
          <a:gradFill rotWithShape="1">
            <a:gsLst>
              <a:gs pos="0">
                <a:srgbClr val="94A3B8"/>
              </a:gs>
              <a:gs pos="100000">
                <a:srgbClr val="CBD5E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6658719" y="2343596"/>
            <a:ext cx="36180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60"/>
              </a:lnSpc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75.20%</a:t>
            </a:r>
            <a:endParaRPr lang="en-US" sz="760" dirty="0"/>
          </a:p>
        </p:txBody>
      </p:sp>
      <p:sp>
        <p:nvSpPr>
          <p:cNvPr id="52" name="Text 44"/>
          <p:cNvSpPr/>
          <p:nvPr/>
        </p:nvSpPr>
        <p:spPr>
          <a:xfrm>
            <a:off x="7120830" y="2235696"/>
            <a:ext cx="843111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7963942" y="2235696"/>
            <a:ext cx="824148" cy="32057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100330" tIns="86360" rIns="100330" bIns="8636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0.6643</a:t>
            </a:r>
            <a:endParaRPr lang="en-US" sz="760" dirty="0"/>
          </a:p>
        </p:txBody>
      </p:sp>
      <p:sp>
        <p:nvSpPr>
          <p:cNvPr id="54" name="Text 46"/>
          <p:cNvSpPr/>
          <p:nvPr/>
        </p:nvSpPr>
        <p:spPr>
          <a:xfrm>
            <a:off x="4100810" y="2727722"/>
            <a:ext cx="2282875" cy="735955"/>
          </a:xfrm>
          <a:prstGeom prst="roundRect">
            <a:avLst>
              <a:gd name="adj" fmla="val 11734"/>
            </a:avLst>
          </a:prstGeom>
          <a:gradFill rotWithShape="1">
            <a:gsLst>
              <a:gs pos="0">
                <a:srgbClr val="0D1B2A"/>
              </a:gs>
              <a:gs pos="100000">
                <a:srgbClr val="1A2F47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4215110" y="282029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7701" y="2882884"/>
            <a:ext cx="132588" cy="1325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4559201" y="2820293"/>
            <a:ext cx="18812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560" dirty="0"/>
          </a:p>
        </p:txBody>
      </p:sp>
      <p:sp>
        <p:nvSpPr>
          <p:cNvPr id="58" name="Text 49"/>
          <p:cNvSpPr/>
          <p:nvPr/>
        </p:nvSpPr>
        <p:spPr>
          <a:xfrm>
            <a:off x="4555934" y="3094434"/>
            <a:ext cx="333211" cy="129332"/>
          </a:xfrm>
          <a:prstGeom prst="roundRect">
            <a:avLst>
              <a:gd name="adj" fmla="val 44189"/>
            </a:avLst>
          </a:prstGeom>
          <a:solidFill>
            <a:srgbClr val="DCFCE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0.8669</a:t>
            </a:r>
            <a:endParaRPr lang="en-US" sz="620" dirty="0"/>
          </a:p>
        </p:txBody>
      </p:sp>
      <p:sp>
        <p:nvSpPr>
          <p:cNvPr id="59" name="Text 50"/>
          <p:cNvSpPr/>
          <p:nvPr/>
        </p:nvSpPr>
        <p:spPr>
          <a:xfrm>
            <a:off x="6470005" y="2727722"/>
            <a:ext cx="2301925" cy="735955"/>
          </a:xfrm>
          <a:prstGeom prst="roundRect">
            <a:avLst>
              <a:gd name="adj" fmla="val 11734"/>
            </a:avLst>
          </a:prstGeom>
          <a:solidFill>
            <a:srgbClr val="FFF8E7"/>
          </a:solidFill>
          <a:ln w="9525">
            <a:solidFill>
              <a:srgbClr val="FBBF24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6593830" y="2829818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BBF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6421" y="2892409"/>
            <a:ext cx="132588" cy="13258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6937921" y="2829818"/>
            <a:ext cx="18812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560" dirty="0"/>
          </a:p>
        </p:txBody>
      </p:sp>
      <p:sp>
        <p:nvSpPr>
          <p:cNvPr id="63" name="Text 53"/>
          <p:cNvSpPr/>
          <p:nvPr/>
        </p:nvSpPr>
        <p:spPr>
          <a:xfrm>
            <a:off x="6937921" y="2958108"/>
            <a:ext cx="1744388" cy="42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680" dirty="0">
                <a:solidFill>
                  <a:srgbClr val="92400E"/>
                </a:solidFill>
                <a:highlight>
                  <a:srgbClr val="FBBF24">
                    <a:alpha val="2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</a:t>
            </a:r>
            <a:r>
              <a:rPr lang="en-US" sz="73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</a:t>
            </a:r>
            <a:r>
              <a:rPr lang="en-US" sz="73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impactful as model selection</a:t>
            </a:r>
            <a:r>
              <a:rPr lang="en-US" sz="73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crucial for imbalanced mental health classes</a:t>
            </a:r>
            <a:endParaRPr lang="en-US" sz="730" dirty="0"/>
          </a:p>
        </p:txBody>
      </p:sp>
      <p:sp>
        <p:nvSpPr>
          <p:cNvPr id="64" name="Text 54"/>
          <p:cNvSpPr/>
          <p:nvPr/>
        </p:nvSpPr>
        <p:spPr>
          <a:xfrm>
            <a:off x="372070" y="4897338"/>
            <a:ext cx="109882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50" dirty="0">
                <a:solidFill>
                  <a:srgbClr val="E8F1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ITAI 1371</a:t>
            </a:r>
            <a:endParaRPr lang="en-US" sz="620" dirty="0"/>
          </a:p>
        </p:txBody>
      </p:sp>
      <p:sp>
        <p:nvSpPr>
          <p:cNvPr id="65" name="Text 55"/>
          <p:cNvSpPr/>
          <p:nvPr/>
        </p:nvSpPr>
        <p:spPr>
          <a:xfrm>
            <a:off x="371475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50000">
                <a:srgbClr val="0284C7"/>
              </a:gs>
              <a:gs pos="100000">
                <a:srgbClr val="38BDF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7403753" y="4897338"/>
            <a:ext cx="15049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 · ITAI 1371 · 2026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714500" cy="1714500"/>
          </a:xfrm>
          <a:prstGeom prst="rect">
            <a:avLst/>
          </a:prstGeom>
          <a:gradFill rotWithShape="1">
            <a:gsLst>
              <a:gs pos="0">
                <a:srgbClr val="38BDF8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0" y="3714750"/>
            <a:ext cx="1428750" cy="1428750"/>
          </a:xfrm>
          <a:prstGeom prst="rect">
            <a:avLst/>
          </a:prstGeom>
          <a:gradFill rotWithShape="1">
            <a:gsLst>
              <a:gs pos="0">
                <a:srgbClr val="38BDF8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08579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38BDF8">
                  <a:alpha val="25000"/>
                </a:srgbClr>
              </a:gs>
              <a:gs pos="60000">
                <a:srgbClr val="38BDF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995214"/>
            <a:ext cx="4052592" cy="7590"/>
          </a:xfrm>
          <a:custGeom>
            <a:avLst/>
            <a:gdLst/>
            <a:ahLst/>
            <a:cxnLst/>
            <a:rect l="l" t="t" r="r" b="b"/>
            <a:pathLst>
              <a:path w="4052592" h="7590">
                <a:moveTo>
                  <a:pt x="71120" y="0"/>
                </a:moveTo>
                <a:lnTo>
                  <a:pt x="3981472" y="0"/>
                </a:lnTo>
                <a:lnTo>
                  <a:pt x="3993050" y="949"/>
                </a:lnTo>
                <a:lnTo>
                  <a:pt x="3997791" y="1898"/>
                </a:lnTo>
                <a:lnTo>
                  <a:pt x="4001391" y="2846"/>
                </a:lnTo>
                <a:lnTo>
                  <a:pt x="4004394" y="3795"/>
                </a:lnTo>
                <a:lnTo>
                  <a:pt x="4007012" y="4744"/>
                </a:lnTo>
                <a:lnTo>
                  <a:pt x="4009353" y="5693"/>
                </a:lnTo>
                <a:lnTo>
                  <a:pt x="4011482" y="6641"/>
                </a:lnTo>
                <a:lnTo>
                  <a:pt x="4013441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24685" y="995214"/>
            <a:ext cx="4052592" cy="7590"/>
          </a:xfrm>
          <a:custGeom>
            <a:avLst/>
            <a:gdLst/>
            <a:ahLst/>
            <a:cxnLst/>
            <a:rect l="l" t="t" r="r" b="b"/>
            <a:pathLst>
              <a:path w="4052592" h="7590">
                <a:moveTo>
                  <a:pt x="71120" y="0"/>
                </a:moveTo>
                <a:lnTo>
                  <a:pt x="3981472" y="0"/>
                </a:lnTo>
                <a:lnTo>
                  <a:pt x="3993050" y="949"/>
                </a:lnTo>
                <a:lnTo>
                  <a:pt x="3997791" y="1898"/>
                </a:lnTo>
                <a:lnTo>
                  <a:pt x="4001391" y="2846"/>
                </a:lnTo>
                <a:lnTo>
                  <a:pt x="4004394" y="3795"/>
                </a:lnTo>
                <a:lnTo>
                  <a:pt x="4007012" y="4744"/>
                </a:lnTo>
                <a:lnTo>
                  <a:pt x="4009353" y="5693"/>
                </a:lnTo>
                <a:lnTo>
                  <a:pt x="4011482" y="6641"/>
                </a:lnTo>
                <a:lnTo>
                  <a:pt x="4013441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" y="2592437"/>
            <a:ext cx="4052592" cy="7590"/>
          </a:xfrm>
          <a:custGeom>
            <a:avLst/>
            <a:gdLst/>
            <a:ahLst/>
            <a:cxnLst/>
            <a:rect l="l" t="t" r="r" b="b"/>
            <a:pathLst>
              <a:path w="4052592" h="7590">
                <a:moveTo>
                  <a:pt x="71120" y="0"/>
                </a:moveTo>
                <a:lnTo>
                  <a:pt x="3981472" y="0"/>
                </a:lnTo>
                <a:lnTo>
                  <a:pt x="3993050" y="949"/>
                </a:lnTo>
                <a:lnTo>
                  <a:pt x="3997791" y="1898"/>
                </a:lnTo>
                <a:lnTo>
                  <a:pt x="4001391" y="2846"/>
                </a:lnTo>
                <a:lnTo>
                  <a:pt x="4004394" y="3795"/>
                </a:lnTo>
                <a:lnTo>
                  <a:pt x="4007012" y="4744"/>
                </a:lnTo>
                <a:lnTo>
                  <a:pt x="4009353" y="5693"/>
                </a:lnTo>
                <a:lnTo>
                  <a:pt x="4011482" y="6641"/>
                </a:lnTo>
                <a:lnTo>
                  <a:pt x="4013441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24685" y="2592437"/>
            <a:ext cx="4052592" cy="7590"/>
          </a:xfrm>
          <a:custGeom>
            <a:avLst/>
            <a:gdLst/>
            <a:ahLst/>
            <a:cxnLst/>
            <a:rect l="l" t="t" r="r" b="b"/>
            <a:pathLst>
              <a:path w="4052592" h="7590">
                <a:moveTo>
                  <a:pt x="71120" y="0"/>
                </a:moveTo>
                <a:lnTo>
                  <a:pt x="3981472" y="0"/>
                </a:lnTo>
                <a:lnTo>
                  <a:pt x="3993050" y="949"/>
                </a:lnTo>
                <a:lnTo>
                  <a:pt x="3997791" y="1898"/>
                </a:lnTo>
                <a:lnTo>
                  <a:pt x="4001391" y="2846"/>
                </a:lnTo>
                <a:lnTo>
                  <a:pt x="4004394" y="3795"/>
                </a:lnTo>
                <a:lnTo>
                  <a:pt x="4007012" y="4744"/>
                </a:lnTo>
                <a:lnTo>
                  <a:pt x="4009353" y="5693"/>
                </a:lnTo>
                <a:lnTo>
                  <a:pt x="4011482" y="6641"/>
                </a:lnTo>
                <a:lnTo>
                  <a:pt x="4013441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14920"/>
            <a:ext cx="23954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117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5 OF 5 · CLOSING REFLECTIONS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57200" y="467916"/>
            <a:ext cx="2286536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28"/>
              </a:lnSpc>
              <a:spcBef>
                <a:spcPts val="230"/>
              </a:spcBef>
              <a:buNone/>
            </a:pPr>
            <a:r>
              <a:rPr lang="en-US" sz="2480" kern="0" spc="-25" dirty="0">
                <a:solidFill>
                  <a:srgbClr val="E8F1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 </a:t>
            </a:r>
            <a:r>
              <a:rPr lang="en-US" sz="2480" b="1" kern="0" spc="-25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Learned</a:t>
            </a:r>
            <a:endParaRPr lang="en-US" sz="2480" dirty="0"/>
          </a:p>
        </p:txBody>
      </p:sp>
      <p:sp>
        <p:nvSpPr>
          <p:cNvPr id="13" name="Text 11"/>
          <p:cNvSpPr/>
          <p:nvPr/>
        </p:nvSpPr>
        <p:spPr>
          <a:xfrm>
            <a:off x="8001000" y="721519"/>
            <a:ext cx="3429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01050" y="699939"/>
            <a:ext cx="57150" cy="57150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15350" y="721519"/>
            <a:ext cx="17145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985689"/>
            <a:ext cx="4071640" cy="1510903"/>
          </a:xfrm>
          <a:prstGeom prst="roundRect">
            <a:avLst>
              <a:gd name="adj" fmla="val 4707"/>
            </a:avLst>
          </a:prstGeom>
          <a:solidFill>
            <a:srgbClr val="1A2F47"/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0195" y="1117104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697" y="1200605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24086" y="1109514"/>
            <a:ext cx="3686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 01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1024086" y="1249114"/>
            <a:ext cx="3418793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matters more than model choice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preprocessing decisions drive outcomes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466725" y="1081534"/>
            <a:ext cx="21580" cy="131921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15160" y="985689"/>
            <a:ext cx="4071640" cy="1510903"/>
          </a:xfrm>
          <a:prstGeom prst="roundRect">
            <a:avLst>
              <a:gd name="adj" fmla="val 4707"/>
            </a:avLst>
          </a:prstGeom>
          <a:solidFill>
            <a:srgbClr val="1A2F47"/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68155" y="1117104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657" y="1200605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82046" y="1109514"/>
            <a:ext cx="3686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 02</a:t>
            </a:r>
            <a:endParaRPr lang="en-US" sz="620" dirty="0"/>
          </a:p>
        </p:txBody>
      </p:sp>
      <p:sp>
        <p:nvSpPr>
          <p:cNvPr id="26" name="Text 22"/>
          <p:cNvSpPr/>
          <p:nvPr/>
        </p:nvSpPr>
        <p:spPr>
          <a:xfrm>
            <a:off x="5182046" y="1249114"/>
            <a:ext cx="3418793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metric to your problem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accuracy alone is misleading on imbalanced data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4624685" y="1081534"/>
            <a:ext cx="21580" cy="131921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7200" y="2582912"/>
            <a:ext cx="4071640" cy="1510903"/>
          </a:xfrm>
          <a:prstGeom prst="roundRect">
            <a:avLst>
              <a:gd name="adj" fmla="val 4707"/>
            </a:avLst>
          </a:prstGeom>
          <a:solidFill>
            <a:srgbClr val="1A2F47"/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10195" y="271432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697" y="2797829"/>
            <a:ext cx="132588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24086" y="2706737"/>
            <a:ext cx="3686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 03</a:t>
            </a:r>
            <a:endParaRPr lang="en-US" sz="620" dirty="0"/>
          </a:p>
        </p:txBody>
      </p:sp>
      <p:sp>
        <p:nvSpPr>
          <p:cNvPr id="32" name="Text 27"/>
          <p:cNvSpPr/>
          <p:nvPr/>
        </p:nvSpPr>
        <p:spPr>
          <a:xfrm>
            <a:off x="1024086" y="2846338"/>
            <a:ext cx="3418793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fairness is not optional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 accuracy can hide serious subgroup disparities</a:t>
            </a:r>
            <a:endParaRPr lang="en-US" sz="870" dirty="0"/>
          </a:p>
        </p:txBody>
      </p:sp>
      <p:sp>
        <p:nvSpPr>
          <p:cNvPr id="33" name="Text 28"/>
          <p:cNvSpPr/>
          <p:nvPr/>
        </p:nvSpPr>
        <p:spPr>
          <a:xfrm>
            <a:off x="466725" y="2678757"/>
            <a:ext cx="21580" cy="131921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4615160" y="2582912"/>
            <a:ext cx="4071640" cy="1510903"/>
          </a:xfrm>
          <a:prstGeom prst="roundRect">
            <a:avLst>
              <a:gd name="adj" fmla="val 4707"/>
            </a:avLst>
          </a:prstGeom>
          <a:solidFill>
            <a:srgbClr val="1A2F47"/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768155" y="271432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657" y="2797829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82046" y="2706737"/>
            <a:ext cx="3686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 04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5182046" y="2846338"/>
            <a:ext cx="3418793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are not optional for production</a:t>
            </a:r>
            <a:r>
              <a:rPr lang="en-US" sz="870" dirty="0">
                <a:solidFill>
                  <a:srgbClr val="E8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eliminate data leakage by design</a:t>
            </a:r>
            <a:endParaRPr lang="en-US" sz="870" dirty="0"/>
          </a:p>
        </p:txBody>
      </p:sp>
      <p:sp>
        <p:nvSpPr>
          <p:cNvPr id="39" name="Text 33"/>
          <p:cNvSpPr/>
          <p:nvPr/>
        </p:nvSpPr>
        <p:spPr>
          <a:xfrm>
            <a:off x="4624685" y="2678757"/>
            <a:ext cx="21580" cy="131921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57200" y="4194125"/>
            <a:ext cx="8229600" cy="304502"/>
          </a:xfrm>
          <a:prstGeom prst="roundRect">
            <a:avLst>
              <a:gd name="adj" fmla="val 18768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744" y="4280083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0220" y="4281636"/>
            <a:ext cx="10159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MASTERED</a:t>
            </a:r>
            <a:endParaRPr lang="en-US" sz="680" dirty="0"/>
          </a:p>
        </p:txBody>
      </p:sp>
      <p:sp>
        <p:nvSpPr>
          <p:cNvPr id="43" name="Text 36"/>
          <p:cNvSpPr/>
          <p:nvPr/>
        </p:nvSpPr>
        <p:spPr>
          <a:xfrm>
            <a:off x="1820168" y="4274641"/>
            <a:ext cx="7590" cy="143470"/>
          </a:xfrm>
          <a:prstGeom prst="rect">
            <a:avLst/>
          </a:prstGeom>
          <a:solidFill>
            <a:srgbClr val="38BDF8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1914079" y="4276874"/>
            <a:ext cx="3678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730" dirty="0"/>
          </a:p>
        </p:txBody>
      </p:sp>
      <p:sp>
        <p:nvSpPr>
          <p:cNvPr id="45" name="Text 38"/>
          <p:cNvSpPr/>
          <p:nvPr/>
        </p:nvSpPr>
        <p:spPr>
          <a:xfrm>
            <a:off x="2334816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46" name="Text 39"/>
          <p:cNvSpPr/>
          <p:nvPr/>
        </p:nvSpPr>
        <p:spPr>
          <a:xfrm>
            <a:off x="2468761" y="4276874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730" dirty="0"/>
          </a:p>
        </p:txBody>
      </p:sp>
      <p:sp>
        <p:nvSpPr>
          <p:cNvPr id="47" name="Text 40"/>
          <p:cNvSpPr/>
          <p:nvPr/>
        </p:nvSpPr>
        <p:spPr>
          <a:xfrm>
            <a:off x="3223915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48" name="Text 41"/>
          <p:cNvSpPr/>
          <p:nvPr/>
        </p:nvSpPr>
        <p:spPr>
          <a:xfrm>
            <a:off x="3357860" y="4276874"/>
            <a:ext cx="3678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730" dirty="0"/>
          </a:p>
        </p:txBody>
      </p:sp>
      <p:sp>
        <p:nvSpPr>
          <p:cNvPr id="49" name="Text 42"/>
          <p:cNvSpPr/>
          <p:nvPr/>
        </p:nvSpPr>
        <p:spPr>
          <a:xfrm>
            <a:off x="3778597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50" name="Text 43"/>
          <p:cNvSpPr/>
          <p:nvPr/>
        </p:nvSpPr>
        <p:spPr>
          <a:xfrm>
            <a:off x="3912543" y="4276874"/>
            <a:ext cx="6130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730" dirty="0"/>
          </a:p>
        </p:txBody>
      </p:sp>
      <p:sp>
        <p:nvSpPr>
          <p:cNvPr id="51" name="Text 44"/>
          <p:cNvSpPr/>
          <p:nvPr/>
        </p:nvSpPr>
        <p:spPr>
          <a:xfrm>
            <a:off x="4556224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52" name="Text 45"/>
          <p:cNvSpPr/>
          <p:nvPr/>
        </p:nvSpPr>
        <p:spPr>
          <a:xfrm>
            <a:off x="4690170" y="4276874"/>
            <a:ext cx="4292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730" dirty="0"/>
          </a:p>
        </p:txBody>
      </p:sp>
      <p:sp>
        <p:nvSpPr>
          <p:cNvPr id="53" name="Text 46"/>
          <p:cNvSpPr/>
          <p:nvPr/>
        </p:nvSpPr>
        <p:spPr>
          <a:xfrm>
            <a:off x="5166717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5300663" y="4276874"/>
            <a:ext cx="3678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</a:t>
            </a:r>
            <a:endParaRPr lang="en-US" sz="730" dirty="0"/>
          </a:p>
        </p:txBody>
      </p:sp>
      <p:sp>
        <p:nvSpPr>
          <p:cNvPr id="55" name="Text 48"/>
          <p:cNvSpPr/>
          <p:nvPr/>
        </p:nvSpPr>
        <p:spPr>
          <a:xfrm>
            <a:off x="5721400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56" name="Text 49"/>
          <p:cNvSpPr/>
          <p:nvPr/>
        </p:nvSpPr>
        <p:spPr>
          <a:xfrm>
            <a:off x="5855345" y="4276874"/>
            <a:ext cx="5518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AutoGluon</a:t>
            </a:r>
            <a:endParaRPr lang="en-US" sz="730" dirty="0"/>
          </a:p>
        </p:txBody>
      </p:sp>
      <p:sp>
        <p:nvSpPr>
          <p:cNvPr id="57" name="Text 50"/>
          <p:cNvSpPr/>
          <p:nvPr/>
        </p:nvSpPr>
        <p:spPr>
          <a:xfrm>
            <a:off x="6443365" y="4292947"/>
            <a:ext cx="52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560" dirty="0"/>
          </a:p>
        </p:txBody>
      </p:sp>
      <p:sp>
        <p:nvSpPr>
          <p:cNvPr id="58" name="Text 51"/>
          <p:cNvSpPr/>
          <p:nvPr/>
        </p:nvSpPr>
        <p:spPr>
          <a:xfrm>
            <a:off x="6577310" y="4276874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Colab</a:t>
            </a:r>
            <a:endParaRPr lang="en-US" sz="730" dirty="0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769" y="4675965"/>
            <a:ext cx="132588" cy="13258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13916" y="4675733"/>
            <a:ext cx="2893263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Zaldivar · ITAI 1371 · Houston Community College · 2026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4825157" y="4677519"/>
            <a:ext cx="117855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PORTFOLIO</a:t>
            </a:r>
            <a:endParaRPr lang="en-US" sz="680" dirty="0"/>
          </a:p>
        </p:txBody>
      </p:sp>
      <p:sp>
        <p:nvSpPr>
          <p:cNvPr id="62" name="Text 54"/>
          <p:cNvSpPr/>
          <p:nvPr/>
        </p:nvSpPr>
        <p:spPr>
          <a:xfrm>
            <a:off x="5982891" y="4598938"/>
            <a:ext cx="2757988" cy="286792"/>
          </a:xfrm>
          <a:prstGeom prst="roundRect">
            <a:avLst>
              <a:gd name="adj" fmla="val 19927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  <a:effectLst>
            <a:outerShdw blurRad="143510" dist="50800" dir="16200000" algn="bl" rotWithShape="0">
              <a:srgbClr val="38BDF8">
                <a:alpha val="30000"/>
              </a:srgbClr>
            </a:outerShdw>
          </a:effectLst>
        </p:spPr>
        <p:txBody>
          <a:bodyPr wrap="none" lIns="324743" tIns="71120" rIns="157480" bIns="71120" rtlCol="0" anchor="ctr"/>
          <a:lstStyle/>
          <a:p>
            <a:pPr marL="0" indent="0" algn="l">
              <a:buNone/>
            </a:pPr>
            <a:r>
              <a:rPr lang="en-US" sz="760" b="1" kern="0" spc="8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github.com/CeZa18/Cesar-Zaldivar-ML-ITAI1371</a:t>
            </a:r>
            <a:endParaRPr lang="en-US" sz="760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2128" y="4675965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529</Words>
  <Application>Microsoft Office PowerPoint</Application>
  <PresentationFormat>On-screen Show (16:9)</PresentationFormat>
  <Paragraphs>115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Cesar Zaldivar</cp:lastModifiedBy>
  <cp:revision>2</cp:revision>
  <dcterms:created xsi:type="dcterms:W3CDTF">2026-08-04T19:57:11Z</dcterms:created>
  <dcterms:modified xsi:type="dcterms:W3CDTF">2026-08-04T21:00:39Z</dcterms:modified>
</cp:coreProperties>
</file>